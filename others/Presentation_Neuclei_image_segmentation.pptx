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K Grotesk Bold" charset="1" panose="00000800000000000000"/>
      <p:regular r:id="rId18"/>
    </p:embeddedFont>
    <p:embeddedFont>
      <p:font typeface="HK Grotesk Medium" charset="1" panose="00000600000000000000"/>
      <p:regular r:id="rId19"/>
    </p:embeddedFont>
    <p:embeddedFont>
      <p:font typeface="HK Grotesk" charset="1" panose="00000500000000000000"/>
      <p:regular r:id="rId20"/>
    </p:embeddedFont>
    <p:embeddedFont>
      <p:font typeface="Radley" charset="1" panose="00000500000000000000"/>
      <p:regular r:id="rId21"/>
    </p:embeddedFont>
    <p:embeddedFont>
      <p:font typeface="Arsenal" charset="1" panose="00000500000000000000"/>
      <p:regular r:id="rId22"/>
    </p:embeddedFont>
    <p:embeddedFont>
      <p:font typeface="Canva Sans Bold" charset="1" panose="020B0803030501040103"/>
      <p:regular r:id="rId23"/>
    </p:embeddedFont>
    <p:embeddedFont>
      <p:font typeface="Alatsi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https://www.kaggle.com/datasets/tuanledinh/monuseg2018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497880" y="2230873"/>
            <a:ext cx="5804607" cy="5804607"/>
          </a:xfrm>
          <a:custGeom>
            <a:avLst/>
            <a:gdLst/>
            <a:ahLst/>
            <a:cxnLst/>
            <a:rect r="r" b="b" t="t" l="l"/>
            <a:pathLst>
              <a:path h="5804607" w="5804607">
                <a:moveTo>
                  <a:pt x="0" y="0"/>
                </a:moveTo>
                <a:lnTo>
                  <a:pt x="5804607" y="0"/>
                </a:lnTo>
                <a:lnTo>
                  <a:pt x="5804607" y="5804608"/>
                </a:lnTo>
                <a:lnTo>
                  <a:pt x="0" y="580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75781" y="2050919"/>
            <a:ext cx="5804607" cy="5804607"/>
          </a:xfrm>
          <a:custGeom>
            <a:avLst/>
            <a:gdLst/>
            <a:ahLst/>
            <a:cxnLst/>
            <a:rect r="r" b="b" t="t" l="l"/>
            <a:pathLst>
              <a:path h="5804607" w="5804607">
                <a:moveTo>
                  <a:pt x="0" y="0"/>
                </a:moveTo>
                <a:lnTo>
                  <a:pt x="5804607" y="0"/>
                </a:lnTo>
                <a:lnTo>
                  <a:pt x="5804607" y="5804608"/>
                </a:lnTo>
                <a:lnTo>
                  <a:pt x="0" y="5804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143526" y="7597308"/>
            <a:ext cx="8233265" cy="8233265"/>
          </a:xfrm>
          <a:custGeom>
            <a:avLst/>
            <a:gdLst/>
            <a:ahLst/>
            <a:cxnLst/>
            <a:rect r="r" b="b" t="t" l="l"/>
            <a:pathLst>
              <a:path h="8233265" w="8233265">
                <a:moveTo>
                  <a:pt x="0" y="0"/>
                </a:moveTo>
                <a:lnTo>
                  <a:pt x="8233265" y="0"/>
                </a:lnTo>
                <a:lnTo>
                  <a:pt x="8233265" y="8233265"/>
                </a:lnTo>
                <a:lnTo>
                  <a:pt x="0" y="82332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95706" y="4079915"/>
            <a:ext cx="1499906" cy="1746616"/>
          </a:xfrm>
          <a:custGeom>
            <a:avLst/>
            <a:gdLst/>
            <a:ahLst/>
            <a:cxnLst/>
            <a:rect r="r" b="b" t="t" l="l"/>
            <a:pathLst>
              <a:path h="1746616" w="149990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92828" y="3084985"/>
            <a:ext cx="7924029" cy="330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4"/>
              </a:lnSpc>
            </a:pPr>
            <a:r>
              <a:rPr lang="en-US" b="true" sz="7109">
                <a:solidFill>
                  <a:srgbClr val="5CB6F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Nuclei Image Segmentation using Deep Learning</a:t>
            </a:r>
          </a:p>
        </p:txBody>
      </p:sp>
      <p:sp>
        <p:nvSpPr>
          <p:cNvPr name="AutoShape 7" id="7"/>
          <p:cNvSpPr/>
          <p:nvPr/>
        </p:nvSpPr>
        <p:spPr>
          <a:xfrm>
            <a:off x="1592828" y="1907023"/>
            <a:ext cx="2099228" cy="0"/>
          </a:xfrm>
          <a:prstGeom prst="line">
            <a:avLst/>
          </a:prstGeom>
          <a:ln cap="rnd" w="647700">
            <a:solidFill>
              <a:srgbClr val="E9E0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592828" y="1651753"/>
            <a:ext cx="209922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699" spc="215">
                <a:solidFill>
                  <a:srgbClr val="5CB6F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CSE445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41181" y="9505432"/>
            <a:ext cx="6028563" cy="521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4"/>
              </a:lnSpc>
            </a:pPr>
            <a:r>
              <a:rPr lang="en-US" b="true" sz="2995" spc="23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FALL 2025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00513" y="7549683"/>
            <a:ext cx="4316344" cy="164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b="true" sz="2394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MD. Esterhaar Ahmed Emon</a:t>
            </a:r>
          </a:p>
          <a:p>
            <a:pPr algn="ctr">
              <a:lnSpc>
                <a:spcPts val="3352"/>
              </a:lnSpc>
            </a:pPr>
            <a:r>
              <a:rPr lang="en-US" b="true" sz="2394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Md.Shahria Sarker Shuvo</a:t>
            </a:r>
          </a:p>
          <a:p>
            <a:pPr algn="ctr">
              <a:lnSpc>
                <a:spcPts val="3352"/>
              </a:lnSpc>
            </a:pPr>
            <a:r>
              <a:rPr lang="en-US" b="true" sz="2394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Elma Khanam</a:t>
            </a:r>
          </a:p>
          <a:p>
            <a:pPr algn="ctr">
              <a:lnSpc>
                <a:spcPts val="3352"/>
              </a:lnSpc>
            </a:pPr>
            <a:r>
              <a:rPr lang="en-US" b="true" sz="2394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Saima Arafin Smrity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565185" y="179011"/>
            <a:ext cx="1388229" cy="1699378"/>
          </a:xfrm>
          <a:custGeom>
            <a:avLst/>
            <a:gdLst/>
            <a:ahLst/>
            <a:cxnLst/>
            <a:rect r="r" b="b" t="t" l="l"/>
            <a:pathLst>
              <a:path h="1699378" w="1388229">
                <a:moveTo>
                  <a:pt x="0" y="0"/>
                </a:moveTo>
                <a:lnTo>
                  <a:pt x="1388230" y="0"/>
                </a:lnTo>
                <a:lnTo>
                  <a:pt x="1388230" y="1699378"/>
                </a:lnTo>
                <a:lnTo>
                  <a:pt x="0" y="16993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78000"/>
            </a:blip>
            <a:stretch>
              <a:fillRect l="-3048" t="0" r="-1213" b="-2206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69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11401" y="473834"/>
            <a:ext cx="7558418" cy="5668813"/>
          </a:xfrm>
          <a:custGeom>
            <a:avLst/>
            <a:gdLst/>
            <a:ahLst/>
            <a:cxnLst/>
            <a:rect r="r" b="b" t="t" l="l"/>
            <a:pathLst>
              <a:path h="5668813" w="7558418">
                <a:moveTo>
                  <a:pt x="0" y="0"/>
                </a:moveTo>
                <a:lnTo>
                  <a:pt x="7558418" y="0"/>
                </a:lnTo>
                <a:lnTo>
                  <a:pt x="7558418" y="5668813"/>
                </a:lnTo>
                <a:lnTo>
                  <a:pt x="0" y="5668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459110">
            <a:off x="5082633" y="5911369"/>
            <a:ext cx="651853" cy="1683188"/>
          </a:xfrm>
          <a:custGeom>
            <a:avLst/>
            <a:gdLst/>
            <a:ahLst/>
            <a:cxnLst/>
            <a:rect r="r" b="b" t="t" l="l"/>
            <a:pathLst>
              <a:path h="1683188" w="651853">
                <a:moveTo>
                  <a:pt x="0" y="0"/>
                </a:moveTo>
                <a:lnTo>
                  <a:pt x="651853" y="0"/>
                </a:lnTo>
                <a:lnTo>
                  <a:pt x="651853" y="1683189"/>
                </a:lnTo>
                <a:lnTo>
                  <a:pt x="0" y="16831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29051" y="1003323"/>
            <a:ext cx="6933956" cy="90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8"/>
              </a:lnSpc>
              <a:spcBef>
                <a:spcPct val="0"/>
              </a:spcBef>
            </a:pPr>
            <a:r>
              <a:rPr lang="en-US" b="true" sz="5852" u="sng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</a:t>
            </a:r>
            <a:r>
              <a:rPr lang="en-US" b="true" sz="5852" u="sng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bjective: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7856" y="2085926"/>
            <a:ext cx="8276345" cy="272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3"/>
              </a:lnSpc>
            </a:pPr>
            <a:r>
              <a:rPr lang="en-US" b="true" sz="294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Our project task is to take 10 whole slide images of cell nuclei with heterogeneous backgrounds and use a segmentation model to a</a:t>
            </a:r>
            <a:r>
              <a:rPr lang="en-US" sz="2946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ccurately extract the regions.</a:t>
            </a:r>
          </a:p>
          <a:p>
            <a:pPr algn="ctr">
              <a:lnSpc>
                <a:spcPts val="3623"/>
              </a:lnSpc>
            </a:pPr>
          </a:p>
          <a:p>
            <a:pPr algn="ctr">
              <a:lnSpc>
                <a:spcPts val="3623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02745" y="4855639"/>
            <a:ext cx="8276345" cy="11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5"/>
              </a:lnSpc>
              <a:spcBef>
                <a:spcPct val="0"/>
              </a:spcBef>
            </a:pPr>
            <a:r>
              <a:rPr lang="en-US" b="true" sz="3622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This supervised learning problem can be resolved with: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856" y="6471254"/>
            <a:ext cx="281940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0"/>
              </a:lnSpc>
              <a:spcBef>
                <a:spcPct val="0"/>
              </a:spcBef>
            </a:pP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Data preparation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28460" y="6515791"/>
            <a:ext cx="241554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0"/>
              </a:lnSpc>
              <a:spcBef>
                <a:spcPct val="0"/>
              </a:spcBef>
            </a:pP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Model training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83801" y="6537929"/>
            <a:ext cx="530352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0"/>
              </a:lnSpc>
              <a:spcBef>
                <a:spcPct val="0"/>
              </a:spcBef>
            </a:pP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Evaluation and threshold tuning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6459110">
            <a:off x="10137974" y="5933507"/>
            <a:ext cx="651853" cy="1683188"/>
          </a:xfrm>
          <a:custGeom>
            <a:avLst/>
            <a:gdLst/>
            <a:ahLst/>
            <a:cxnLst/>
            <a:rect r="r" b="b" t="t" l="l"/>
            <a:pathLst>
              <a:path h="1683188" w="651853">
                <a:moveTo>
                  <a:pt x="0" y="0"/>
                </a:moveTo>
                <a:lnTo>
                  <a:pt x="651853" y="0"/>
                </a:lnTo>
                <a:lnTo>
                  <a:pt x="651853" y="1683188"/>
                </a:lnTo>
                <a:lnTo>
                  <a:pt x="0" y="16831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17350" y="7686068"/>
            <a:ext cx="11743078" cy="167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b="true" sz="359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Medical imaging comes with challenges such as :</a:t>
            </a:r>
          </a:p>
          <a:p>
            <a:pPr algn="ctr">
              <a:lnSpc>
                <a:spcPts val="4416"/>
              </a:lnSpc>
            </a:pPr>
          </a:p>
          <a:p>
            <a:pPr algn="ctr">
              <a:lnSpc>
                <a:spcPts val="4416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715530" y="8597649"/>
            <a:ext cx="3187660" cy="85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21" indent="-302261" lvl="1">
              <a:lnSpc>
                <a:spcPts val="3444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Variable staining</a:t>
            </a:r>
          </a:p>
          <a:p>
            <a:pPr algn="ctr">
              <a:lnSpc>
                <a:spcPts val="344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4725464" y="9355455"/>
            <a:ext cx="3530560" cy="85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21" indent="-302261" lvl="1">
              <a:lnSpc>
                <a:spcPts val="3444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Overlapping nuclei</a:t>
            </a:r>
          </a:p>
          <a:p>
            <a:pPr algn="ctr">
              <a:lnSpc>
                <a:spcPts val="3444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636484" y="8597649"/>
            <a:ext cx="4750147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3690"/>
              </a:lnSpc>
              <a:buFont typeface="Arial"/>
              <a:buChar char="•"/>
            </a:pP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Low contrast boundaries</a:t>
            </a:r>
          </a:p>
          <a:p>
            <a:pPr algn="ctr">
              <a:lnSpc>
                <a:spcPts val="369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636484" y="9355455"/>
            <a:ext cx="8084820" cy="8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94444" indent="-297222" lvl="1">
              <a:lnSpc>
                <a:spcPts val="3386"/>
              </a:lnSpc>
              <a:buFont typeface="Arial"/>
              <a:buChar char="•"/>
            </a:pPr>
            <a:r>
              <a:rPr lang="en-US" b="true" sz="2753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Limited long-range dependency capture in CNNs</a:t>
            </a:r>
          </a:p>
          <a:p>
            <a:pPr algn="ctr">
              <a:lnSpc>
                <a:spcPts val="33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10ED6">
                <a:alpha val="69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34876" y="2370818"/>
            <a:ext cx="6069238" cy="6000659"/>
          </a:xfrm>
          <a:custGeom>
            <a:avLst/>
            <a:gdLst/>
            <a:ahLst/>
            <a:cxnLst/>
            <a:rect r="r" b="b" t="t" l="l"/>
            <a:pathLst>
              <a:path h="6000659" w="6069238">
                <a:moveTo>
                  <a:pt x="0" y="0"/>
                </a:moveTo>
                <a:lnTo>
                  <a:pt x="6069238" y="0"/>
                </a:lnTo>
                <a:lnTo>
                  <a:pt x="6069238" y="6000659"/>
                </a:lnTo>
                <a:lnTo>
                  <a:pt x="0" y="6000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9516" y="4811078"/>
            <a:ext cx="832448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0"/>
              </a:lnSpc>
              <a:spcBef>
                <a:spcPct val="0"/>
              </a:spcBef>
            </a:pP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The </a:t>
            </a: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dataset is organized into two main folders: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29419" y="1009650"/>
            <a:ext cx="6878938" cy="85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1"/>
              </a:lnSpc>
              <a:spcBef>
                <a:spcPct val="0"/>
              </a:spcBef>
            </a:pPr>
            <a:r>
              <a:rPr lang="en-US" sz="5497" spc="439" u="sng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Data Collection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6331" y="2361293"/>
            <a:ext cx="10806176" cy="186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0"/>
              </a:lnSpc>
            </a:pPr>
            <a:r>
              <a:rPr lang="en-US" sz="30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We selected the MoNuSeg 2018 Dataset from Kaggle for the Multi-Organ Nuclei Segmentation Challenge, which features whole-slide histopathology images with various backgrounds.</a:t>
            </a:r>
          </a:p>
          <a:p>
            <a:pPr algn="ctr">
              <a:lnSpc>
                <a:spcPts val="369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383784" y="8698431"/>
            <a:ext cx="5309496" cy="1110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4"/>
              </a:lnSpc>
              <a:spcBef>
                <a:spcPct val="0"/>
              </a:spcBef>
            </a:pPr>
            <a:r>
              <a:rPr lang="en-US" b="true" sz="3898" u="sng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3" tooltip="https://www.kaggle.com/datasets/tuanledinh/monuseg2018"/>
              </a:rPr>
              <a:t>MonuSeg-2018</a:t>
            </a:r>
          </a:p>
          <a:p>
            <a:pPr algn="ctr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-1548516" y="5642610"/>
            <a:ext cx="8324484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0"/>
              </a:lnSpc>
            </a:pPr>
            <a:r>
              <a:rPr lang="en-US" b="true" sz="3000" u="sng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kmms_training</a:t>
            </a:r>
          </a:p>
          <a:p>
            <a:pPr algn="ctr">
              <a:lnSpc>
                <a:spcPts val="369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443249" y="5642610"/>
            <a:ext cx="8324484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0"/>
              </a:lnSpc>
            </a:pPr>
            <a:r>
              <a:rPr lang="en-US" b="true" sz="3000" u="sng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kmms_test</a:t>
            </a:r>
          </a:p>
          <a:p>
            <a:pPr algn="ctr">
              <a:lnSpc>
                <a:spcPts val="369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336983"/>
            <a:ext cx="260137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3690"/>
              </a:lnSpc>
              <a:buFont typeface="Arial"/>
              <a:buChar char="•"/>
            </a:pP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58</a:t>
            </a: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images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130801"/>
            <a:ext cx="260137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3690"/>
              </a:lnSpc>
              <a:buFont typeface="Arial"/>
              <a:buChar char="•"/>
            </a:pP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Subfold</a:t>
            </a: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ers: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4806" y="7825173"/>
            <a:ext cx="6626866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3690"/>
              </a:lnSpc>
              <a:buFont typeface="Arial"/>
              <a:buChar char="•"/>
            </a:pP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Images (raw histopathology imag</a:t>
            </a: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es)</a:t>
            </a:r>
          </a:p>
          <a:p>
            <a:pPr algn="ctr">
              <a:lnSpc>
                <a:spcPts val="369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404806" y="8326755"/>
            <a:ext cx="5371162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3690"/>
              </a:lnSpc>
              <a:buFont typeface="Arial"/>
              <a:buChar char="•"/>
            </a:pP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Masks (ground-truth nuclei segmentation mask</a:t>
            </a: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97990" y="6564630"/>
            <a:ext cx="260137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3690"/>
              </a:lnSpc>
              <a:buFont typeface="Arial"/>
              <a:buChar char="•"/>
            </a:pP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58</a:t>
            </a: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images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08894" y="7358448"/>
            <a:ext cx="1997668" cy="186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0"/>
              </a:lnSpc>
            </a:pPr>
          </a:p>
          <a:p>
            <a:pPr algn="ctr" marL="647700" indent="-323850" lvl="1">
              <a:lnSpc>
                <a:spcPts val="3690"/>
              </a:lnSpc>
              <a:buFont typeface="Arial"/>
              <a:buChar char="•"/>
            </a:pP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</a:t>
            </a: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mages</a:t>
            </a:r>
          </a:p>
          <a:p>
            <a:pPr algn="ctr" marL="647700" indent="-323850" lvl="1">
              <a:lnSpc>
                <a:spcPts val="3690"/>
              </a:lnSpc>
              <a:buFont typeface="Arial"/>
              <a:buChar char="•"/>
            </a:pP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Masks</a:t>
            </a:r>
          </a:p>
          <a:p>
            <a:pPr algn="ctr">
              <a:lnSpc>
                <a:spcPts val="369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497990" y="7130801"/>
            <a:ext cx="260137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3690"/>
              </a:lnSpc>
              <a:buFont typeface="Arial"/>
              <a:buChar char="•"/>
            </a:pP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Subfold</a:t>
            </a:r>
            <a:r>
              <a:rPr lang="en-US" b="true" sz="3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ers: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69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966" y="1889205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50576" y="1889205"/>
            <a:ext cx="7746798" cy="7777226"/>
            <a:chOff x="0" y="0"/>
            <a:chExt cx="5350965" cy="53719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50965" cy="5371983"/>
            </a:xfrm>
            <a:custGeom>
              <a:avLst/>
              <a:gdLst/>
              <a:ahLst/>
              <a:cxnLst/>
              <a:rect r="r" b="b" t="t" l="l"/>
              <a:pathLst>
                <a:path h="5371983" w="5350965">
                  <a:moveTo>
                    <a:pt x="5350965" y="0"/>
                  </a:moveTo>
                  <a:lnTo>
                    <a:pt x="5350965" y="5371983"/>
                  </a:lnTo>
                  <a:lnTo>
                    <a:pt x="0" y="5371983"/>
                  </a:lnTo>
                  <a:lnTo>
                    <a:pt x="0" y="3750719"/>
                  </a:lnTo>
                  <a:cubicBezTo>
                    <a:pt x="0" y="1679282"/>
                    <a:pt x="2395749" y="0"/>
                    <a:pt x="5350965" y="0"/>
                  </a:cubicBezTo>
                  <a:close/>
                </a:path>
              </a:pathLst>
            </a:custGeom>
            <a:solidFill>
              <a:srgbClr val="B6B7C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066789" y="2971144"/>
            <a:ext cx="7673655" cy="631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48"/>
              </a:lnSpc>
            </a:pPr>
          </a:p>
          <a:p>
            <a:pPr algn="ctr" marL="0" indent="0" lvl="0">
              <a:lnSpc>
                <a:spcPts val="3548"/>
              </a:lnSpc>
            </a:pPr>
            <a:r>
              <a:rPr lang="en-US" sz="3225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We utilized the KMMS dataset, applying comprehensive data augmentation to address scarcity and ensure robust model training.</a:t>
            </a:r>
          </a:p>
          <a:p>
            <a:pPr algn="ctr" marL="0" indent="0" lvl="0">
              <a:lnSpc>
                <a:spcPts val="3548"/>
              </a:lnSpc>
            </a:pPr>
          </a:p>
          <a:p>
            <a:pPr algn="ctr" marL="0" indent="0" lvl="0">
              <a:lnSpc>
                <a:spcPts val="3548"/>
              </a:lnSpc>
            </a:pPr>
          </a:p>
          <a:p>
            <a:pPr algn="ctr" marL="0" indent="0" lvl="0">
              <a:lnSpc>
                <a:spcPts val="3878"/>
              </a:lnSpc>
            </a:pPr>
            <a:r>
              <a:rPr lang="en-US" sz="3525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1</a:t>
            </a:r>
            <a:r>
              <a:rPr lang="en-US" sz="3525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.</a:t>
            </a:r>
            <a:r>
              <a:rPr lang="en-US" sz="3525" u="sng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Data Loading &amp; Balancing</a:t>
            </a:r>
          </a:p>
          <a:p>
            <a:pPr algn="ctr" marL="0" indent="0" lvl="0">
              <a:lnSpc>
                <a:spcPts val="3548"/>
              </a:lnSpc>
            </a:pPr>
            <a:r>
              <a:rPr lang="en-US" sz="3225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Split into 68.3% train, 15.9% validation, 15.9% test for representative distributions.</a:t>
            </a:r>
          </a:p>
          <a:p>
            <a:pPr algn="ctr" marL="0" indent="0" lvl="0">
              <a:lnSpc>
                <a:spcPts val="3548"/>
              </a:lnSpc>
            </a:pPr>
          </a:p>
          <a:p>
            <a:pPr algn="ctr" marL="0" indent="0" lvl="0">
              <a:lnSpc>
                <a:spcPts val="3548"/>
              </a:lnSpc>
            </a:pPr>
          </a:p>
          <a:p>
            <a:pPr algn="ctr" marL="0" indent="0" lvl="0">
              <a:lnSpc>
                <a:spcPts val="3548"/>
              </a:lnSpc>
            </a:pPr>
          </a:p>
          <a:p>
            <a:pPr algn="ctr" marL="0" indent="0" lvl="0">
              <a:lnSpc>
                <a:spcPts val="354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609922" y="591497"/>
            <a:ext cx="12143235" cy="85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1"/>
              </a:lnSpc>
              <a:spcBef>
                <a:spcPct val="0"/>
              </a:spcBef>
            </a:pPr>
            <a:r>
              <a:rPr lang="en-US" sz="5497" spc="439" u="sng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Dataset Preparation &amp; 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49333" y="4280704"/>
            <a:ext cx="6903153" cy="4720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20"/>
              </a:lnSpc>
            </a:pPr>
            <a:r>
              <a:rPr lang="en-US" sz="3473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3.</a:t>
            </a:r>
            <a:r>
              <a:rPr lang="en-US" sz="3473" u="sng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I</a:t>
            </a:r>
            <a:r>
              <a:rPr lang="en-US" sz="3473" u="sng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mage Processing</a:t>
            </a:r>
          </a:p>
          <a:p>
            <a:pPr algn="ctr" marL="0" indent="0" lvl="0">
              <a:lnSpc>
                <a:spcPts val="3710"/>
              </a:lnSpc>
            </a:pPr>
            <a:r>
              <a:rPr lang="en-US" sz="3373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Resized to 256x256 pixels, normalized, and masks binarized.</a:t>
            </a:r>
          </a:p>
          <a:p>
            <a:pPr algn="ctr" marL="0" indent="0" lvl="0">
              <a:lnSpc>
                <a:spcPts val="3710"/>
              </a:lnSpc>
            </a:pPr>
          </a:p>
          <a:p>
            <a:pPr algn="ctr" marL="0" indent="0" lvl="0">
              <a:lnSpc>
                <a:spcPts val="3930"/>
              </a:lnSpc>
            </a:pPr>
            <a:r>
              <a:rPr lang="en-US" sz="3573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2.</a:t>
            </a:r>
            <a:r>
              <a:rPr lang="en-US" sz="3573" u="sng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Augmentation Strategies</a:t>
            </a:r>
          </a:p>
          <a:p>
            <a:pPr algn="ctr" marL="0" indent="0" lvl="0">
              <a:lnSpc>
                <a:spcPts val="3710"/>
              </a:lnSpc>
            </a:pPr>
            <a:r>
              <a:rPr lang="en-US" sz="3373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Random flips, rotation, brightness/contrast, Gaussian blur, and cropping.</a:t>
            </a:r>
          </a:p>
          <a:p>
            <a:pPr algn="ctr" marL="0" indent="0" lvl="0">
              <a:lnSpc>
                <a:spcPts val="3710"/>
              </a:lnSpc>
            </a:pPr>
          </a:p>
          <a:p>
            <a:pPr algn="ctr" marL="0" indent="0" lvl="0">
              <a:lnSpc>
                <a:spcPts val="371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10ED6">
                <a:alpha val="69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380009" y="6590933"/>
            <a:ext cx="0" cy="6526163"/>
          </a:xfrm>
          <a:prstGeom prst="line">
            <a:avLst/>
          </a:prstGeom>
          <a:ln cap="rnd" w="9525">
            <a:solidFill>
              <a:srgbClr val="F4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41366" y="6590933"/>
            <a:ext cx="18246634" cy="0"/>
          </a:xfrm>
          <a:prstGeom prst="line">
            <a:avLst/>
          </a:prstGeom>
          <a:ln cap="rnd" w="9525">
            <a:solidFill>
              <a:srgbClr val="F4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8858059" y="6590933"/>
            <a:ext cx="0" cy="4081653"/>
          </a:xfrm>
          <a:prstGeom prst="line">
            <a:avLst/>
          </a:prstGeom>
          <a:ln cap="rnd" w="9525">
            <a:solidFill>
              <a:srgbClr val="F4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13464703" y="6590933"/>
            <a:ext cx="0" cy="6526163"/>
          </a:xfrm>
          <a:prstGeom prst="line">
            <a:avLst/>
          </a:prstGeom>
          <a:ln cap="rnd" w="9525">
            <a:solidFill>
              <a:srgbClr val="F4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861278"/>
            <a:ext cx="918077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27"/>
              </a:lnSpc>
            </a:pPr>
            <a:r>
              <a:rPr lang="en-US" sz="6022" spc="-120" u="sng">
                <a:solidFill>
                  <a:srgbClr val="F4F6FC"/>
                </a:solidFill>
                <a:latin typeface="Arsenal"/>
                <a:ea typeface="Arsenal"/>
                <a:cs typeface="Arsenal"/>
                <a:sym typeface="Arsenal"/>
              </a:rPr>
              <a:t>M</a:t>
            </a:r>
            <a:r>
              <a:rPr lang="en-US" sz="6022" spc="-120" u="sng">
                <a:solidFill>
                  <a:srgbClr val="F4F6FC"/>
                </a:solidFill>
                <a:latin typeface="Arsenal"/>
                <a:ea typeface="Arsenal"/>
                <a:cs typeface="Arsenal"/>
                <a:sym typeface="Arsenal"/>
              </a:rPr>
              <a:t>odel Selection: VM-UNet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64468" y="6882104"/>
            <a:ext cx="3921990" cy="3125236"/>
            <a:chOff x="0" y="0"/>
            <a:chExt cx="5229320" cy="41669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187401" y="0"/>
              <a:ext cx="854517" cy="1243345"/>
            </a:xfrm>
            <a:custGeom>
              <a:avLst/>
              <a:gdLst/>
              <a:ahLst/>
              <a:cxnLst/>
              <a:rect r="r" b="b" t="t" l="l"/>
              <a:pathLst>
                <a:path h="1243345" w="854517">
                  <a:moveTo>
                    <a:pt x="0" y="0"/>
                  </a:moveTo>
                  <a:lnTo>
                    <a:pt x="854518" y="0"/>
                  </a:lnTo>
                  <a:lnTo>
                    <a:pt x="854518" y="1243345"/>
                  </a:lnTo>
                  <a:lnTo>
                    <a:pt x="0" y="1243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1440136"/>
              <a:ext cx="5229320" cy="2726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18"/>
                </a:lnSpc>
              </a:pPr>
              <a:r>
                <a:rPr lang="en-US" sz="2090">
                  <a:solidFill>
                    <a:srgbClr val="F4F6FC"/>
                  </a:solidFill>
                  <a:latin typeface="Radley"/>
                  <a:ea typeface="Radley"/>
                  <a:cs typeface="Radley"/>
                  <a:sym typeface="Radley"/>
                </a:rPr>
                <a:t>VM-UNet combines U-Net's local feature extraction with Vision Mamba's global context understanding, offering linear computational complexity and global receptive fields.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03872" y="6922696"/>
            <a:ext cx="3373150" cy="2988307"/>
            <a:chOff x="0" y="0"/>
            <a:chExt cx="4497533" cy="39844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65386" y="0"/>
              <a:ext cx="1166762" cy="1426042"/>
            </a:xfrm>
            <a:custGeom>
              <a:avLst/>
              <a:gdLst/>
              <a:ahLst/>
              <a:cxnLst/>
              <a:rect r="r" b="b" t="t" l="l"/>
              <a:pathLst>
                <a:path h="1426042" w="1166762">
                  <a:moveTo>
                    <a:pt x="0" y="0"/>
                  </a:moveTo>
                  <a:lnTo>
                    <a:pt x="1166762" y="0"/>
                  </a:lnTo>
                  <a:lnTo>
                    <a:pt x="1166762" y="1426042"/>
                  </a:lnTo>
                  <a:lnTo>
                    <a:pt x="0" y="1426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2629468"/>
              <a:ext cx="4497533" cy="1354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41"/>
                </a:lnSpc>
              </a:pPr>
              <a:r>
                <a:rPr lang="en-US" sz="2108">
                  <a:solidFill>
                    <a:srgbClr val="F4F6FC"/>
                  </a:solidFill>
                  <a:latin typeface="Radley"/>
                  <a:ea typeface="Radley"/>
                  <a:cs typeface="Radley"/>
                  <a:sym typeface="Radley"/>
                </a:rPr>
                <a:t>U-Net Framework</a:t>
              </a:r>
            </a:p>
            <a:p>
              <a:pPr algn="ctr" marL="0" indent="0" lvl="0">
                <a:lnSpc>
                  <a:spcPts val="2741"/>
                </a:lnSpc>
              </a:pPr>
              <a:r>
                <a:rPr lang="en-US" sz="2108">
                  <a:solidFill>
                    <a:srgbClr val="F4F6FC"/>
                  </a:solidFill>
                  <a:latin typeface="Radley"/>
                  <a:ea typeface="Radley"/>
                  <a:cs typeface="Radley"/>
                  <a:sym typeface="Radley"/>
                </a:rPr>
                <a:t>Local feature extraction capabilities.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43865" y="6949250"/>
            <a:ext cx="3373150" cy="2961752"/>
            <a:chOff x="0" y="0"/>
            <a:chExt cx="4497533" cy="39490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547734" y="0"/>
              <a:ext cx="1402065" cy="1330687"/>
            </a:xfrm>
            <a:custGeom>
              <a:avLst/>
              <a:gdLst/>
              <a:ahLst/>
              <a:cxnLst/>
              <a:rect r="r" b="b" t="t" l="l"/>
              <a:pathLst>
                <a:path h="1330687" w="1402065">
                  <a:moveTo>
                    <a:pt x="0" y="0"/>
                  </a:moveTo>
                  <a:lnTo>
                    <a:pt x="1402065" y="0"/>
                  </a:lnTo>
                  <a:lnTo>
                    <a:pt x="1402065" y="1330687"/>
                  </a:lnTo>
                  <a:lnTo>
                    <a:pt x="0" y="1330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2594062"/>
              <a:ext cx="4497533" cy="1354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41"/>
                </a:lnSpc>
              </a:pPr>
              <a:r>
                <a:rPr lang="en-US" sz="2108">
                  <a:solidFill>
                    <a:srgbClr val="F4F6FC"/>
                  </a:solidFill>
                  <a:latin typeface="Radley"/>
                  <a:ea typeface="Radley"/>
                  <a:cs typeface="Radley"/>
                  <a:sym typeface="Radley"/>
                </a:rPr>
                <a:t>Vision Mamba Blocks</a:t>
              </a:r>
            </a:p>
            <a:p>
              <a:pPr algn="ctr" marL="0" indent="0" lvl="0">
                <a:lnSpc>
                  <a:spcPts val="2741"/>
                </a:lnSpc>
              </a:pPr>
              <a:r>
                <a:rPr lang="en-US" sz="2108">
                  <a:solidFill>
                    <a:srgbClr val="F4F6FC"/>
                  </a:solidFill>
                  <a:latin typeface="Radley"/>
                  <a:ea typeface="Radley"/>
                  <a:cs typeface="Radley"/>
                  <a:sym typeface="Radley"/>
                </a:rPr>
                <a:t>Global context understanding.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088590" y="7073452"/>
            <a:ext cx="3373150" cy="2790146"/>
            <a:chOff x="0" y="0"/>
            <a:chExt cx="4497533" cy="3720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840209" y="0"/>
              <a:ext cx="1234586" cy="1352634"/>
            </a:xfrm>
            <a:custGeom>
              <a:avLst/>
              <a:gdLst/>
              <a:ahLst/>
              <a:cxnLst/>
              <a:rect r="r" b="b" t="t" l="l"/>
              <a:pathLst>
                <a:path h="1352634" w="1234586">
                  <a:moveTo>
                    <a:pt x="0" y="0"/>
                  </a:moveTo>
                  <a:lnTo>
                    <a:pt x="1234586" y="0"/>
                  </a:lnTo>
                  <a:lnTo>
                    <a:pt x="1234586" y="1352634"/>
                  </a:lnTo>
                  <a:lnTo>
                    <a:pt x="0" y="135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365255"/>
              <a:ext cx="4497533" cy="1354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41"/>
                </a:lnSpc>
              </a:pPr>
              <a:r>
                <a:rPr lang="en-US" sz="2108">
                  <a:solidFill>
                    <a:srgbClr val="F4F6FC"/>
                  </a:solidFill>
                  <a:latin typeface="Radley"/>
                  <a:ea typeface="Radley"/>
                  <a:cs typeface="Radley"/>
                  <a:sym typeface="Radley"/>
                </a:rPr>
                <a:t>VM-UNet</a:t>
              </a:r>
            </a:p>
            <a:p>
              <a:pPr algn="ctr" marL="0" indent="0" lvl="0">
                <a:lnSpc>
                  <a:spcPts val="2741"/>
                </a:lnSpc>
              </a:pPr>
              <a:r>
                <a:rPr lang="en-US" sz="2108">
                  <a:solidFill>
                    <a:srgbClr val="F4F6FC"/>
                  </a:solidFill>
                  <a:latin typeface="Radley"/>
                  <a:ea typeface="Radley"/>
                  <a:cs typeface="Radley"/>
                  <a:sym typeface="Radley"/>
                </a:rPr>
                <a:t>Novel hybrid architecture for superior segmentation.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761882" y="1318478"/>
            <a:ext cx="7194975" cy="5079714"/>
          </a:xfrm>
          <a:custGeom>
            <a:avLst/>
            <a:gdLst/>
            <a:ahLst/>
            <a:cxnLst/>
            <a:rect r="r" b="b" t="t" l="l"/>
            <a:pathLst>
              <a:path h="5079714" w="7194975">
                <a:moveTo>
                  <a:pt x="0" y="0"/>
                </a:moveTo>
                <a:lnTo>
                  <a:pt x="7194975" y="0"/>
                </a:lnTo>
                <a:lnTo>
                  <a:pt x="7194975" y="5079714"/>
                </a:lnTo>
                <a:lnTo>
                  <a:pt x="0" y="5079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69097" y="2418335"/>
            <a:ext cx="8074768" cy="272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3"/>
              </a:lnSpc>
            </a:pPr>
            <a:r>
              <a:rPr lang="en-US" b="true" sz="294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Our project uses VM-UNet, a novel medical image segmentation architecture. It integrates Vision Mamba blocks within a U-Net framework to improve feature extraction for nuclei segmentation tasks.</a:t>
            </a:r>
          </a:p>
          <a:p>
            <a:pPr algn="ctr">
              <a:lnSpc>
                <a:spcPts val="362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69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973165" y="2181429"/>
          <a:ext cx="16286135" cy="7809237"/>
        </p:xfrm>
        <a:graphic>
          <a:graphicData uri="http://schemas.openxmlformats.org/drawingml/2006/table">
            <a:tbl>
              <a:tblPr/>
              <a:tblGrid>
                <a:gridCol w="4479094"/>
                <a:gridCol w="3799746"/>
                <a:gridCol w="3923914"/>
                <a:gridCol w="4083381"/>
              </a:tblGrid>
              <a:tr h="20862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 b="true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               3</a:t>
                      </a:r>
                      <a:endParaRPr lang="en-US" sz="1100"/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       Encoder</a:t>
                      </a:r>
                      <a:endParaRPr lang="en-US" sz="1100"/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64</a:t>
                      </a:r>
                      <a:endParaRPr lang="en-US" sz="1100"/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DoubleConv + VMBlock + M</a:t>
                      </a:r>
                      <a:endParaRPr lang="en-US" sz="1100"/>
                    </a:p>
                    <a:p>
                      <a:pPr algn="ctr">
                        <a:lnSpc>
                          <a:spcPts val="4200"/>
                        </a:lnSpc>
                      </a:pPr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62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512</a:t>
                      </a:r>
                      <a:endParaRPr lang="en-US" sz="1100"/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4200"/>
                        </a:lnSpc>
                      </a:pPr>
                      <a:r>
                        <a:rPr lang="en-US" b="true" sz="3000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Bridge</a:t>
                      </a:r>
                    </a:p>
                    <a:p>
                      <a:pPr algn="ctr">
                        <a:lnSpc>
                          <a:spcPts val="4200"/>
                        </a:lnSpc>
                      </a:pPr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1024</a:t>
                      </a:r>
                      <a:endParaRPr lang="en-US" sz="1100"/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DoubleConv + VMBlock + M</a:t>
                      </a:r>
                      <a:endParaRPr lang="en-US" sz="1100"/>
                    </a:p>
                    <a:p>
                      <a:pPr algn="ctr">
                        <a:lnSpc>
                          <a:spcPts val="4200"/>
                        </a:lnSpc>
                      </a:pPr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62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128</a:t>
                      </a:r>
                      <a:endParaRPr lang="en-US" sz="1100"/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Decoder 4</a:t>
                      </a:r>
                      <a:endParaRPr lang="en-US" sz="1100"/>
                    </a:p>
                    <a:p>
                      <a:pPr algn="ctr">
                        <a:lnSpc>
                          <a:spcPts val="4200"/>
                        </a:lnSpc>
                      </a:pPr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64</a:t>
                      </a:r>
                      <a:endParaRPr lang="en-US" sz="1100"/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UpConv + Skip + DoubleConv + M</a:t>
                      </a:r>
                      <a:endParaRPr lang="en-US" sz="1100"/>
                    </a:p>
                    <a:p>
                      <a:pPr algn="ctr">
                        <a:lnSpc>
                          <a:spcPts val="4200"/>
                        </a:lnSpc>
                      </a:pPr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03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64</a:t>
                      </a:r>
                      <a:endParaRPr lang="en-US" sz="1100"/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output</a:t>
                      </a:r>
                      <a:endParaRPr lang="en-US" sz="1100"/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</a:t>
                      </a:r>
                      <a:endParaRPr lang="en-US" sz="1100"/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4F6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1x1 Conv + Sigmoid</a:t>
                      </a:r>
                      <a:endParaRPr lang="en-US" sz="1100"/>
                    </a:p>
                    <a:p>
                      <a:pPr algn="ctr">
                        <a:lnSpc>
                          <a:spcPts val="4200"/>
                        </a:lnSpc>
                      </a:pPr>
                    </a:p>
                  </a:txBody>
                  <a:tcPr marL="184184" marR="184184" marT="184184" marB="184184" anchor="ctr">
                    <a:lnL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6837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-996254" y="491734"/>
            <a:ext cx="20280509" cy="100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45"/>
              </a:lnSpc>
            </a:pPr>
            <a:r>
              <a:rPr lang="en-US" sz="6188" spc="-123" u="sng">
                <a:solidFill>
                  <a:srgbClr val="F4F6FC"/>
                </a:solidFill>
                <a:latin typeface="Arsenal"/>
                <a:ea typeface="Arsenal"/>
                <a:cs typeface="Arsenal"/>
                <a:sym typeface="Arsenal"/>
              </a:rPr>
              <a:t>VM-UNet Architecture: Encoder-Decoder Structure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55793" y="2088526"/>
            <a:ext cx="1377641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b="true" sz="2745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We utilize a weighted combination of Dice Loss and Focal Loss for more stable training, optimized with AdamW and a learning rate scheduler.</a:t>
            </a:r>
          </a:p>
          <a:p>
            <a:pPr algn="l">
              <a:lnSpc>
                <a:spcPts val="305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703909" y="3873926"/>
            <a:ext cx="5637779" cy="206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3"/>
              </a:lnSpc>
            </a:pPr>
            <a:r>
              <a:rPr lang="en-US" b="true" sz="4519" spc="36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Combined Loss:</a:t>
            </a:r>
          </a:p>
          <a:p>
            <a:pPr algn="l">
              <a:lnSpc>
                <a:spcPts val="5423"/>
              </a:lnSpc>
            </a:pPr>
          </a:p>
          <a:p>
            <a:pPr algn="l">
              <a:lnSpc>
                <a:spcPts val="542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03909" y="5838825"/>
            <a:ext cx="15633078" cy="341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</a:pPr>
            <a:r>
              <a:rPr lang="en-US" b="true" sz="2956" u="sng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Optimizer:</a:t>
            </a:r>
          </a:p>
          <a:p>
            <a:pPr algn="l">
              <a:lnSpc>
                <a:spcPts val="3308"/>
              </a:lnSpc>
            </a:pPr>
            <a:r>
              <a:rPr lang="en-US" b="true" sz="275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AdamW with learning rate (10-4) and weight decay (10-5)</a:t>
            </a:r>
          </a:p>
          <a:p>
            <a:pPr algn="l">
              <a:lnSpc>
                <a:spcPts val="3308"/>
              </a:lnSpc>
            </a:pPr>
          </a:p>
          <a:p>
            <a:pPr algn="l">
              <a:lnSpc>
                <a:spcPts val="3547"/>
              </a:lnSpc>
            </a:pPr>
            <a:r>
              <a:rPr lang="en-US" b="true" sz="2956" u="sng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Scheduler:</a:t>
            </a:r>
          </a:p>
          <a:p>
            <a:pPr algn="l">
              <a:lnSpc>
                <a:spcPts val="3308"/>
              </a:lnSpc>
            </a:pPr>
            <a:r>
              <a:rPr lang="en-US" b="true" sz="275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We used the </a:t>
            </a:r>
            <a:r>
              <a:rPr lang="en-US" b="true" sz="2756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ReduceLROnPlateau scheduler to automatically reduce the learning rate when the validation performance stopped improving. This helped stabilize training and avoid getting stuck when the loss plateaued ment.</a:t>
            </a:r>
          </a:p>
          <a:p>
            <a:pPr algn="l">
              <a:lnSpc>
                <a:spcPts val="330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03909" y="800280"/>
            <a:ext cx="14880182" cy="86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  <a:spcBef>
                <a:spcPct val="0"/>
              </a:spcBef>
            </a:pPr>
            <a:r>
              <a:rPr lang="en-US" b="true" sz="5589" u="sng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Loss Functions &amp; Optimization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3909" y="4604949"/>
            <a:ext cx="9995497" cy="55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8"/>
              </a:lnSpc>
            </a:pPr>
            <a:r>
              <a:rPr lang="en-US" sz="3615" spc="289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= ( </a:t>
            </a:r>
            <a:r>
              <a:rPr lang="en-US" b="true" sz="3615" spc="28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0.6 x Dice Loss + 0.4 x Focal Loss)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69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5238" y="1979638"/>
            <a:ext cx="11004465" cy="5336447"/>
            <a:chOff x="0" y="0"/>
            <a:chExt cx="14672621" cy="7115262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424" r="0" b="424"/>
            <a:stretch>
              <a:fillRect/>
            </a:stretch>
          </p:blipFill>
          <p:spPr>
            <a:xfrm flipH="false" flipV="false">
              <a:off x="0" y="0"/>
              <a:ext cx="14672621" cy="7115262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-365742" y="726260"/>
            <a:ext cx="19686424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3"/>
              </a:lnSpc>
            </a:pPr>
            <a:r>
              <a:rPr lang="en-US" sz="5778" u="sng">
                <a:solidFill>
                  <a:srgbClr val="D4EDF4"/>
                </a:solidFill>
                <a:latin typeface="Radley"/>
                <a:ea typeface="Radley"/>
                <a:cs typeface="Radley"/>
                <a:sym typeface="Radley"/>
              </a:rPr>
              <a:t>Experimental Results: Training Performance</a:t>
            </a:r>
          </a:p>
          <a:p>
            <a:pPr algn="ctr">
              <a:lnSpc>
                <a:spcPts val="5133"/>
              </a:lnSpc>
            </a:pPr>
          </a:p>
          <a:p>
            <a:pPr algn="ctr">
              <a:lnSpc>
                <a:spcPts val="5133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468126" y="7716135"/>
            <a:ext cx="10476191" cy="48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9289" indent="-334645" lvl="1">
              <a:lnSpc>
                <a:spcPts val="3812"/>
              </a:lnSpc>
              <a:buFont typeface="Arial"/>
              <a:buChar char="•"/>
            </a:pPr>
            <a:r>
              <a:rPr lang="en-US" b="true" sz="3099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Gradual improvement in training and validation F1-score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65945" y="8180574"/>
            <a:ext cx="12023051" cy="48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9289" indent="-334645" lvl="1">
              <a:lnSpc>
                <a:spcPts val="3812"/>
              </a:lnSpc>
              <a:buFont typeface="Arial"/>
              <a:buChar char="•"/>
            </a:pPr>
            <a:r>
              <a:rPr lang="en-US" b="true" sz="3099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Our selected Model achieved  B</a:t>
            </a:r>
            <a:r>
              <a:rPr lang="en-US" b="true" sz="3099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est validation F1 around epoch 40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29773" y="9064113"/>
            <a:ext cx="13609320" cy="959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2"/>
              </a:lnSpc>
            </a:pPr>
            <a:r>
              <a:rPr lang="en-US" sz="3099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Even wit</a:t>
            </a:r>
            <a:r>
              <a:rPr lang="en-US" sz="3099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h limited data, our chosen model was able to learn significant features </a:t>
            </a:r>
          </a:p>
          <a:p>
            <a:pPr algn="ctr">
              <a:lnSpc>
                <a:spcPts val="381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69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975174" y="1923450"/>
          <a:ext cx="11975430" cy="6477000"/>
        </p:xfrm>
        <a:graphic>
          <a:graphicData uri="http://schemas.openxmlformats.org/drawingml/2006/table">
            <a:tbl>
              <a:tblPr/>
              <a:tblGrid>
                <a:gridCol w="6616531"/>
                <a:gridCol w="5358899"/>
              </a:tblGrid>
              <a:tr h="10731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spc="255">
                          <a:solidFill>
                            <a:srgbClr val="F4F6FC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OPTIMAL TRESHOLD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b="true" sz="3199" spc="255">
                          <a:solidFill>
                            <a:srgbClr val="F4F6F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                0.3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31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b="true" sz="3199" spc="255">
                          <a:solidFill>
                            <a:srgbClr val="F4F6F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TEST LOSE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b="true" sz="3199" spc="255">
                          <a:solidFill>
                            <a:srgbClr val="F4F6F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               0.2774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31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b="true" sz="3199" spc="255">
                          <a:solidFill>
                            <a:srgbClr val="F4F6F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b="true" sz="3199" spc="255">
                          <a:solidFill>
                            <a:srgbClr val="F4F6F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               0.7332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31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b="true" sz="3199" spc="255">
                          <a:solidFill>
                            <a:srgbClr val="F4F6F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b="true" sz="3199" spc="255">
                          <a:solidFill>
                            <a:srgbClr val="F4F6F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               0.6404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31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spc="255">
                          <a:solidFill>
                            <a:srgbClr val="F4F6FC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b="true" sz="3199" spc="255">
                          <a:solidFill>
                            <a:srgbClr val="F4F6F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0.8965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14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b="true" sz="3199">
                          <a:solidFill>
                            <a:srgbClr val="F4F6FC"/>
                          </a:solidFill>
                          <a:latin typeface="HK Grotesk Medium"/>
                          <a:ea typeface="HK Grotesk Medium"/>
                          <a:cs typeface="HK Grotesk Medium"/>
                          <a:sym typeface="HK Grotesk Medium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b="true" sz="3399" spc="271">
                          <a:solidFill>
                            <a:srgbClr val="F4F6F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0.6837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F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8703" y="561375"/>
            <a:ext cx="18259297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7"/>
              </a:lnSpc>
            </a:pPr>
            <a:r>
              <a:rPr lang="en-US" b="true" sz="5556" u="sng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VM-UNet FINAL TEST RESULTS</a:t>
            </a:r>
          </a:p>
          <a:p>
            <a:pPr algn="ctr">
              <a:lnSpc>
                <a:spcPts val="414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679324" y="8682481"/>
            <a:ext cx="6567131" cy="48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9289" indent="-334645" lvl="1">
              <a:lnSpc>
                <a:spcPts val="3812"/>
              </a:lnSpc>
              <a:buFont typeface="Arial"/>
              <a:buChar char="•"/>
            </a:pPr>
            <a:r>
              <a:rPr lang="en-US" b="true" sz="3099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</a:t>
            </a:r>
            <a:r>
              <a:rPr lang="en-US" b="true" sz="3099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hresholds (0.3 – 0.7) were tested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8980" y="9448002"/>
            <a:ext cx="16146781" cy="48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2"/>
              </a:lnSpc>
            </a:pPr>
            <a:r>
              <a:rPr lang="en-US" sz="30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The Monuseg2018 dataset was small, but it achieved good performance despite its limited size.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10ED6">
                <a:alpha val="69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1337" y="3175711"/>
            <a:ext cx="4180725" cy="4368167"/>
            <a:chOff x="0" y="0"/>
            <a:chExt cx="5574299" cy="582422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787150" y="1643498"/>
              <a:ext cx="1393575" cy="1393575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345C72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2787150" y="3037073"/>
              <a:ext cx="1393575" cy="1393575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345C72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393575" y="3037073"/>
              <a:ext cx="1393575" cy="1393575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345C72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4180725" y="4430648"/>
              <a:ext cx="1393575" cy="1393575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345C72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4180725" y="3037073"/>
              <a:ext cx="1393575" cy="1393575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345C72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2787150" y="4430648"/>
              <a:ext cx="1393575" cy="1393575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345C72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4180725" y="1643498"/>
              <a:ext cx="1393575" cy="1393575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345C72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393575" y="4430648"/>
              <a:ext cx="1393575" cy="1393575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345C72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4180725" y="249923"/>
              <a:ext cx="1393575" cy="1393575"/>
              <a:chOff x="0" y="0"/>
              <a:chExt cx="1913890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345C72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4430648"/>
              <a:ext cx="1393575" cy="1393575"/>
              <a:chOff x="0" y="0"/>
              <a:chExt cx="1913890" cy="19138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345C72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321042" y="0"/>
              <a:ext cx="1393575" cy="1393575"/>
              <a:chOff x="0" y="0"/>
              <a:chExt cx="1913890" cy="19138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</p:grpSp>
      <p:sp>
        <p:nvSpPr>
          <p:cNvPr name="TextBox 25" id="25"/>
          <p:cNvSpPr txBox="true"/>
          <p:nvPr/>
        </p:nvSpPr>
        <p:spPr>
          <a:xfrm rot="0">
            <a:off x="6101858" y="3166186"/>
            <a:ext cx="10886885" cy="489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2"/>
              </a:lnSpc>
            </a:pP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Our p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ro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ject succ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es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sf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ully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applied a complet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 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ma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hine le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ing pipeline for nuclei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s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egment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tion using histopatholog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y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images with diverse backgrounds. The 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VM-UNet 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ap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pro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ach ach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ie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ved 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eliable per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form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anc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esp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te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a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l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im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it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as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et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balanci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ng computat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al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efficiency and accuracy 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compared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t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m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ore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mpl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x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models. Key factors included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careful d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ataset 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prepar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tio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, 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at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a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gment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ati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bala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ced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sp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itting, 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and a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pp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op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at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 evaluat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io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n m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660" spc="212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thods. Performance limitations were due to dataset size and staining variations. Testing the model on larger datasets like MoNuSeg and TNBC could further enhance our understanding of scalability and training behavior.</a:t>
            </a:r>
          </a:p>
          <a:p>
            <a:pPr algn="l" marL="0" indent="0" lvl="0">
              <a:lnSpc>
                <a:spcPts val="4162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7197044" y="1621178"/>
            <a:ext cx="97917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4"/>
              </a:lnSpc>
            </a:pPr>
            <a:r>
              <a:rPr lang="en-US" b="true" sz="5504" spc="44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Conclusion: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69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42933" y="3227725"/>
            <a:ext cx="11627497" cy="251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>
                <a:solidFill>
                  <a:srgbClr val="E9E0D9"/>
                </a:solidFill>
                <a:latin typeface="Alatsi"/>
                <a:ea typeface="Alatsi"/>
                <a:cs typeface="Alatsi"/>
                <a:sym typeface="Alatsi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28485" y="5666230"/>
            <a:ext cx="10669737" cy="70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3"/>
              </a:lnSpc>
            </a:pPr>
            <a:r>
              <a:rPr lang="en-US" sz="4116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Stay tuned with ML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4B4AB6">
                      <a:alpha val="6900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69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4332AC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69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40171" y="3781395"/>
            <a:ext cx="9007657" cy="272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5"/>
              </a:lnSpc>
              <a:spcBef>
                <a:spcPct val="0"/>
              </a:spcBef>
            </a:pPr>
            <a:r>
              <a:rPr lang="en-US" sz="17879" spc="-357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DAG5lKUaiUY</dc:identifier>
  <dcterms:modified xsi:type="dcterms:W3CDTF">2011-08-01T06:04:30Z</dcterms:modified>
  <cp:revision>1</cp:revision>
  <dc:title>CSE445.5</dc:title>
</cp:coreProperties>
</file>